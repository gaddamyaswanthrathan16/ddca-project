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0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576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5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95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0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8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953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905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61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6766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06912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71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27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58300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888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70701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4615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266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489560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14051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8481278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97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012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34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333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69951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139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373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  <p:sldLayoutId id="2147483759" r:id="rId25"/>
    <p:sldLayoutId id="2147483760" r:id="rId26"/>
    <p:sldLayoutId id="2147483761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453"/>
            <a:ext cx="12186879" cy="685511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65" y="3895874"/>
            <a:ext cx="4446306" cy="5807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607" y="3895874"/>
            <a:ext cx="4446307" cy="5807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965" y="4628990"/>
            <a:ext cx="4446306" cy="81880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607" y="4628990"/>
            <a:ext cx="4446307" cy="8188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0225" y="915861"/>
            <a:ext cx="11706429" cy="1744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765"/>
              </a:lnSpc>
              <a:defRPr/>
            </a:pPr>
            <a:r>
              <a:rPr sz="6150" b="1" i="0" u="none" dirty="0">
                <a:solidFill>
                  <a:srgbClr val="38BDF8"/>
                </a:solidFill>
                <a:latin typeface="Baskerville Old Face" panose="02020602080505020303" pitchFamily="18" charset="0"/>
              </a:rPr>
              <a:t>Design and Simulation of a Digital Access Card Verification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9085" y="2946553"/>
            <a:ext cx="5988708" cy="725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  <a:defRPr/>
            </a:pPr>
            <a:r>
              <a:rPr sz="2400" b="0" i="0" u="none" dirty="0">
                <a:solidFill>
                  <a:srgbClr val="FB7185"/>
                </a:solidFill>
                <a:latin typeface="Algerian" panose="04020705040A02060702" pitchFamily="82" charset="0"/>
              </a:rPr>
              <a:t>Digital Logic Design &amp; Hardware Simulation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8510" y="4086294"/>
            <a:ext cx="1047310" cy="199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FB7185"/>
                </a:solidFill>
                <a:latin typeface="Comfortaa"/>
              </a:rPr>
              <a:t>2620030622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7980" y="4067252"/>
            <a:ext cx="2151745" cy="238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25" b="0" i="0" u="none">
                <a:solidFill>
                  <a:srgbClr val="F8FAFC"/>
                </a:solidFill>
                <a:latin typeface="Afacad Flux SemiBold"/>
              </a:rPr>
              <a:t>GADDAM YASWANTH RATHAN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7153" y="4086294"/>
            <a:ext cx="1056831" cy="199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FB7185"/>
                </a:solidFill>
                <a:latin typeface="Comfortaa"/>
              </a:rPr>
              <a:t>2620030634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4706" y="4067252"/>
            <a:ext cx="2113661" cy="238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25" b="0" i="0" u="none">
                <a:solidFill>
                  <a:srgbClr val="F8FAFC"/>
                </a:solidFill>
                <a:latin typeface="Afacad Flux SemiBold"/>
              </a:rPr>
              <a:t>RAJANNAGARI VARUN REDDY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510" y="4938423"/>
            <a:ext cx="1018746" cy="19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FB7185"/>
                </a:solidFill>
                <a:latin typeface="Comfortaa"/>
              </a:rPr>
              <a:t>2620030641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7257" y="4800369"/>
            <a:ext cx="2932467" cy="476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25" b="0" i="0" u="none">
                <a:solidFill>
                  <a:srgbClr val="F8FAFC"/>
                </a:solidFill>
                <a:latin typeface="Afacad Flux SemiBold"/>
              </a:rPr>
              <a:t>KATTULA NAGA VEERA VENKATA SAI MANIKANTA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7153" y="4938423"/>
            <a:ext cx="1056831" cy="19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FB7185"/>
                </a:solidFill>
                <a:latin typeface="Comfortaa"/>
              </a:rPr>
              <a:t>2620030646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3571" y="4919381"/>
            <a:ext cx="1494796" cy="238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25" b="0" i="0" u="none">
                <a:solidFill>
                  <a:srgbClr val="F8FAFC"/>
                </a:solidFill>
                <a:latin typeface="Afacad Flux SemiBold"/>
              </a:rPr>
              <a:t>GOLI MITHRA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05" y="2092690"/>
            <a:ext cx="5257133" cy="35109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4101" y="2143506"/>
            <a:ext cx="4914233" cy="9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00B050"/>
                </a:solidFill>
                <a:latin typeface="Arial Black" panose="020B0A04020102020204" pitchFamily="34" charset="0"/>
              </a:rPr>
              <a:t>Project Goal</a:t>
            </a:r>
            <a:r>
              <a:rPr sz="1650" b="1" i="0" u="none" dirty="0">
                <a:solidFill>
                  <a:srgbClr val="F8FAFC"/>
                </a:solidFill>
                <a:latin typeface="Afacad Flux"/>
              </a:rPr>
              <a:t>:</a:t>
            </a:r>
            <a:r>
              <a:rPr sz="1650" b="0" i="0" u="none" dirty="0">
                <a:solidFill>
                  <a:srgbClr val="E2E8F0"/>
                </a:solidFill>
                <a:latin typeface="Afacad Flux"/>
              </a:rPr>
              <a:t> Build a secure hardware-based access verification system using pure digital logic and sequential state machines.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4101" y="3224498"/>
            <a:ext cx="4914233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00B050"/>
                </a:solidFill>
                <a:latin typeface="Arial Black" panose="020B0A04020102020204" pitchFamily="34" charset="0"/>
              </a:rPr>
              <a:t>Core Mechanism</a:t>
            </a:r>
            <a:r>
              <a:rPr sz="1650" b="1" i="0" u="none" dirty="0">
                <a:solidFill>
                  <a:srgbClr val="F8FAFC"/>
                </a:solidFill>
                <a:latin typeface="Afacad Flux"/>
              </a:rPr>
              <a:t>:</a:t>
            </a:r>
            <a:r>
              <a:rPr sz="1650" b="0" i="0" u="none" dirty="0">
                <a:solidFill>
                  <a:srgbClr val="E2E8F0"/>
                </a:solidFill>
                <a:latin typeface="Afacad Flux"/>
              </a:rPr>
              <a:t> Instantly compares card credentials and PIN inputs with secure register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4101" y="4000595"/>
            <a:ext cx="4914233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00B050"/>
                </a:solidFill>
                <a:latin typeface="Arial Black" panose="020B0A04020102020204" pitchFamily="34" charset="0"/>
              </a:rPr>
              <a:t>Simulation Suite</a:t>
            </a:r>
            <a:r>
              <a:rPr sz="1650" b="1" i="0" u="none" dirty="0">
                <a:solidFill>
                  <a:srgbClr val="F8FAFC"/>
                </a:solidFill>
                <a:latin typeface="Afacad Flux"/>
              </a:rPr>
              <a:t>:</a:t>
            </a:r>
            <a:r>
              <a:rPr sz="1650" b="0" i="0" u="none" dirty="0">
                <a:solidFill>
                  <a:srgbClr val="E2E8F0"/>
                </a:solidFill>
                <a:latin typeface="Afacad Flux"/>
              </a:rPr>
              <a:t> Fully simulated and verified using Logisim for real-time propagation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4101" y="4776692"/>
            <a:ext cx="4914233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00B050"/>
                </a:solidFill>
                <a:latin typeface="Arial Black" panose="020B0A04020102020204" pitchFamily="34" charset="0"/>
              </a:rPr>
              <a:t>Reliability</a:t>
            </a:r>
            <a:r>
              <a:rPr sz="1650" b="1" i="0" u="none" dirty="0">
                <a:solidFill>
                  <a:srgbClr val="F8FAFC"/>
                </a:solidFill>
                <a:latin typeface="Afacad Flux"/>
              </a:rPr>
              <a:t>:</a:t>
            </a:r>
            <a:r>
              <a:rPr sz="1650" b="0" i="0" u="none" dirty="0">
                <a:solidFill>
                  <a:srgbClr val="E2E8F0"/>
                </a:solidFill>
                <a:latin typeface="Afacad Flux"/>
              </a:rPr>
              <a:t> Integrates multi-factor authentication, automatic lockout counters, and visual LED feedback.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383" y="2111168"/>
            <a:ext cx="5220176" cy="347395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01" y="2175700"/>
            <a:ext cx="23812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01" y="3256692"/>
            <a:ext cx="2381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01" y="4032789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01" y="4808886"/>
            <a:ext cx="238125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201" y="378809"/>
            <a:ext cx="11428028" cy="81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5100" b="1" i="0" u="none" dirty="0">
                <a:solidFill>
                  <a:srgbClr val="38BDF8"/>
                </a:solidFill>
                <a:latin typeface="Goudy Old Style" panose="02020502050305020303" pitchFamily="18" charset="0"/>
              </a:rPr>
              <a:t>Abstract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1201" y="1209484"/>
            <a:ext cx="10883836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01" y="2485358"/>
            <a:ext cx="3443208" cy="272557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588" y="2485358"/>
            <a:ext cx="3443208" cy="27255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974" y="2485358"/>
            <a:ext cx="3443208" cy="27255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6857" y="3427761"/>
            <a:ext cx="2994491" cy="267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8FAFC"/>
                </a:solidFill>
                <a:latin typeface="Comfortaa"/>
              </a:rPr>
              <a:t>Security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6857" y="3806571"/>
            <a:ext cx="2851896" cy="1108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Afacad Flux"/>
              </a:rPr>
              <a:t>Conventional physical keys and basic entry methods lack modern cryptographic logs, secure validation states, and brute-force protection.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7244" y="3427761"/>
            <a:ext cx="2994491" cy="267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8FAFC"/>
                </a:solidFill>
                <a:latin typeface="Comfortaa"/>
              </a:rPr>
              <a:t>System 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7244" y="3806571"/>
            <a:ext cx="2851896" cy="1108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Afacad Flux"/>
              </a:rPr>
              <a:t>Microcontroller or OS-based access terminals suffer from boot delays, kernel overhead, and processing bottlenecks during heavy traffic hours.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7630" y="3427761"/>
            <a:ext cx="2994491" cy="267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8FAFC"/>
                </a:solidFill>
                <a:latin typeface="Comfortaa"/>
              </a:rPr>
              <a:t>Robust Logic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7630" y="3806571"/>
            <a:ext cx="2851896" cy="1108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Afacad Flux"/>
              </a:rPr>
              <a:t>Necessity for a high-speed, fault-tolerant hardware pipeline capable of handling parallel ID lookups, retry penalties, and instant alarm triggers.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57" y="2864167"/>
            <a:ext cx="351091" cy="35109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244" y="2864167"/>
            <a:ext cx="351091" cy="35109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7630" y="2864167"/>
            <a:ext cx="351091" cy="3510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9862" y="426434"/>
            <a:ext cx="11428028" cy="81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5100" b="1" i="0" u="none" dirty="0">
                <a:solidFill>
                  <a:srgbClr val="38BDF8"/>
                </a:solidFill>
                <a:latin typeface="Bodoni MT Black" panose="02070A03080606020203" pitchFamily="18" charset="0"/>
              </a:rPr>
              <a:t>Problem Definition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201" y="1209484"/>
            <a:ext cx="10883836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05" y="2092690"/>
            <a:ext cx="5257133" cy="35109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4101" y="2295953"/>
            <a:ext cx="4914233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0070C0"/>
                </a:solidFill>
                <a:latin typeface="Bell MT" panose="02020503060305020303" pitchFamily="18" charset="0"/>
              </a:rPr>
              <a:t>Input Stage</a:t>
            </a:r>
            <a:r>
              <a:rPr sz="1650" b="1" i="0" u="none" dirty="0">
                <a:solidFill>
                  <a:srgbClr val="F8FAFC"/>
                </a:solidFill>
                <a:latin typeface="Afacad Flux"/>
              </a:rPr>
              <a:t>:</a:t>
            </a:r>
            <a:r>
              <a:rPr sz="1650" b="0" i="0" u="none" dirty="0">
                <a:solidFill>
                  <a:srgbClr val="E2E8F0"/>
                </a:solidFill>
                <a:latin typeface="Afacad Flux"/>
              </a:rPr>
              <a:t> Multiplexed switches and keypad inputs mapping card identification bits.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4101" y="3072050"/>
            <a:ext cx="4914233" cy="9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0070C0"/>
                </a:solidFill>
                <a:latin typeface="Castellar" panose="020A0402060406010301" pitchFamily="18" charset="0"/>
              </a:rPr>
              <a:t>Comparator Array</a:t>
            </a:r>
            <a:r>
              <a:rPr sz="1650" b="1" i="0" u="none" dirty="0">
                <a:solidFill>
                  <a:srgbClr val="F8FAFC"/>
                </a:solidFill>
                <a:latin typeface="Afacad Flux"/>
              </a:rPr>
              <a:t>:</a:t>
            </a:r>
            <a:r>
              <a:rPr sz="1650" b="0" i="0" u="none" dirty="0">
                <a:solidFill>
                  <a:srgbClr val="E2E8F0"/>
                </a:solidFill>
                <a:latin typeface="Afacad Flux"/>
              </a:rPr>
              <a:t> Bitwise XNOR and </a:t>
            </a:r>
            <a:r>
              <a:rPr sz="1650" b="0" i="0" u="none" dirty="0" err="1">
                <a:solidFill>
                  <a:srgbClr val="E2E8F0"/>
                </a:solidFill>
                <a:latin typeface="Afacad Flux"/>
              </a:rPr>
              <a:t>AND</a:t>
            </a:r>
            <a:r>
              <a:rPr sz="1650" b="0" i="0" u="none" dirty="0">
                <a:solidFill>
                  <a:srgbClr val="E2E8F0"/>
                </a:solidFill>
                <a:latin typeface="Afacad Flux"/>
              </a:rPr>
              <a:t> gate networks evaluating user inputs against master registers.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622" y="3945148"/>
            <a:ext cx="4914233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0070C0"/>
                </a:solidFill>
                <a:latin typeface="Arial Black" panose="020B0A04020102020204" pitchFamily="34" charset="0"/>
              </a:rPr>
              <a:t>Control FSM</a:t>
            </a:r>
            <a:r>
              <a:rPr sz="1650" b="1" i="0" u="none" dirty="0">
                <a:solidFill>
                  <a:srgbClr val="F8FAFC"/>
                </a:solidFill>
                <a:latin typeface="Afacad Flux"/>
              </a:rPr>
              <a:t>:</a:t>
            </a:r>
            <a:r>
              <a:rPr sz="1650" b="0" i="0" u="none" dirty="0">
                <a:solidFill>
                  <a:srgbClr val="E2E8F0"/>
                </a:solidFill>
                <a:latin typeface="Afacad Flux"/>
              </a:rPr>
              <a:t> Finite State Machine managing idle, access granted, and lockout penalties.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4101" y="4624244"/>
            <a:ext cx="4914233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0070C0"/>
                </a:solidFill>
                <a:latin typeface="Arial Black" panose="020B0A04020102020204" pitchFamily="34" charset="0"/>
              </a:rPr>
              <a:t>Actuation Output</a:t>
            </a:r>
            <a:r>
              <a:rPr sz="1650" b="1" i="0" u="none" dirty="0">
                <a:solidFill>
                  <a:srgbClr val="F8FAFC"/>
                </a:solidFill>
                <a:latin typeface="Afacad Flux"/>
              </a:rPr>
              <a:t>:</a:t>
            </a:r>
            <a:r>
              <a:rPr sz="1650" b="0" i="0" u="none" dirty="0">
                <a:solidFill>
                  <a:srgbClr val="E2E8F0"/>
                </a:solidFill>
                <a:latin typeface="Afacad Flux"/>
              </a:rPr>
              <a:t> Solenoid driver triggers paired with green/red verification LEDs and buzzers.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383" y="2111168"/>
            <a:ext cx="5220176" cy="347395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01" y="2328148"/>
            <a:ext cx="18097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01" y="3104245"/>
            <a:ext cx="18097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01" y="4009551"/>
            <a:ext cx="18097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01" y="4656439"/>
            <a:ext cx="180975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201" y="378809"/>
            <a:ext cx="11428028" cy="81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5100" b="1" i="0" u="none" dirty="0">
                <a:solidFill>
                  <a:srgbClr val="38BDF8"/>
                </a:solidFill>
                <a:latin typeface="FZShuTi" panose="02010601030101010101" pitchFamily="2" charset="-122"/>
                <a:ea typeface="FZShuTi" panose="02010601030101010101" pitchFamily="2" charset="-122"/>
              </a:rPr>
              <a:t>Design and Methodology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1201" y="1209484"/>
            <a:ext cx="10883836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01" y="2009536"/>
            <a:ext cx="5257133" cy="174621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01" y="3940540"/>
            <a:ext cx="5257133" cy="1746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905" y="2092690"/>
            <a:ext cx="5257133" cy="35109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1422" y="2720959"/>
            <a:ext cx="5015526" cy="221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Comfortaa"/>
              </a:rPr>
              <a:t>Combinational Sub-circuits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422" y="3016615"/>
            <a:ext cx="4776692" cy="498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Afacad Flux"/>
              </a:rPr>
              <a:t>Custom 4-bit and 8-bit magnitude comparators designed with primitive logic gates for high-speed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422" y="4651962"/>
            <a:ext cx="5015526" cy="221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Comfortaa"/>
              </a:rPr>
              <a:t>Sequential 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22" y="4947618"/>
            <a:ext cx="4776692" cy="498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Afacad Flux"/>
              </a:rPr>
              <a:t>D flip-flops and binary adders configured to track incorrect attempts and manage strict lockout cooldown cycles.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383" y="2111168"/>
            <a:ext cx="5220176" cy="347395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22" y="2323671"/>
            <a:ext cx="258699" cy="25869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22" y="4254674"/>
            <a:ext cx="258699" cy="2586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201" y="378809"/>
            <a:ext cx="11428028" cy="81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5100" b="1" i="0" u="none" dirty="0">
                <a:solidFill>
                  <a:srgbClr val="38BDF8"/>
                </a:solidFill>
                <a:latin typeface="Engravers MT" panose="02090707080505020304" pitchFamily="18" charset="0"/>
              </a:rPr>
              <a:t>Logisim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1201" y="1209484"/>
            <a:ext cx="10883836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1201" y="2365248"/>
            <a:ext cx="10883836" cy="2965799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71201" y="2365248"/>
          <a:ext cx="10865357" cy="2965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5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159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8BDF8"/>
                          </a:solidFill>
                          <a:latin typeface="Comfortaa"/>
                        </a:rPr>
                        <a:t>Circuit 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8BDF8"/>
                          </a:solidFill>
                          <a:latin typeface="Comfortaa"/>
                        </a:rPr>
                        <a:t>Logisim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8BDF8"/>
                          </a:solidFill>
                          <a:latin typeface="Comfortaa"/>
                        </a:rPr>
                        <a:t>Operational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159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E2E8F0"/>
                          </a:solidFill>
                          <a:latin typeface="Afacad Flux"/>
                        </a:rPr>
                        <a:t>ID Matcher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2E8F0"/>
                          </a:solidFill>
                          <a:latin typeface="Afacad Flux"/>
                        </a:rPr>
                        <a:t>XNOR Gates &amp; Bitwise 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2E8F0"/>
                          </a:solidFill>
                          <a:latin typeface="Afacad Flux"/>
                        </a:rPr>
                        <a:t>Performs bit-by-bit verification against stored master card code.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159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E2E8F0"/>
                          </a:solidFill>
                          <a:latin typeface="Afacad Flux"/>
                        </a:rPr>
                        <a:t>Error Counter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2E8F0"/>
                          </a:solidFill>
                          <a:latin typeface="Afacad Flux"/>
                        </a:rPr>
                        <a:t>Registers &amp; Adder Circuits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2E8F0"/>
                          </a:solidFill>
                          <a:latin typeface="Afacad Flux"/>
                        </a:rPr>
                        <a:t>Monitors consecutive failed entries to enforce security lockouts.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159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E2E8F0"/>
                          </a:solidFill>
                          <a:latin typeface="Afacad Flux"/>
                        </a:rPr>
                        <a:t>State Controller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2E8F0"/>
                          </a:solidFill>
                          <a:latin typeface="Afacad Flux"/>
                        </a:rPr>
                        <a:t>Finite State Machine (FSM)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2E8F0"/>
                          </a:solidFill>
                          <a:latin typeface="Afacad Flux"/>
                        </a:rPr>
                        <a:t>Controls seamless transitions between Ready, Verified, and Alarm states.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163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E2E8F0"/>
                          </a:solidFill>
                          <a:latin typeface="Afacad Flux"/>
                        </a:rPr>
                        <a:t>Feedback Indicators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2E8F0"/>
                          </a:solidFill>
                          <a:latin typeface="Afacad Flux"/>
                        </a:rPr>
                        <a:t>LED Matrix &amp; Hex Displays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2E8F0"/>
                          </a:solidFill>
                          <a:latin typeface="Afacad Flux"/>
                        </a:rPr>
                        <a:t>Provides instant visual status for authorized access or security alerts.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80441" y="2979372"/>
            <a:ext cx="21162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96662" y="2979372"/>
            <a:ext cx="27040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0731" y="2979372"/>
            <a:ext cx="60450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0441" y="3561445"/>
            <a:ext cx="21162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96662" y="3561445"/>
            <a:ext cx="27040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0731" y="3561445"/>
            <a:ext cx="60450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0441" y="4143518"/>
            <a:ext cx="21162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96662" y="4143518"/>
            <a:ext cx="27040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0731" y="4143518"/>
            <a:ext cx="60450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0441" y="4725590"/>
            <a:ext cx="21162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96662" y="4725590"/>
            <a:ext cx="27040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0731" y="4725590"/>
            <a:ext cx="604506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201" y="378809"/>
            <a:ext cx="11428028" cy="81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5100" b="1" i="0" u="none" dirty="0">
                <a:solidFill>
                  <a:srgbClr val="38BDF8"/>
                </a:solidFill>
                <a:latin typeface="Eras Bold ITC" panose="020B0907030504020204" pitchFamily="34" charset="0"/>
              </a:rPr>
              <a:t>Logisim Implementation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201" y="1209484"/>
            <a:ext cx="10883836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2491" cy="684702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1" y="2153960"/>
            <a:ext cx="5411052" cy="36137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897" y="2363175"/>
            <a:ext cx="5068152" cy="627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Afacad Flux"/>
              </a:rPr>
              <a:t>Valid Entry Test:</a:t>
            </a:r>
            <a:r>
              <a:rPr sz="1650" b="0" i="0" u="none">
                <a:solidFill>
                  <a:srgbClr val="E2E8F0"/>
                </a:solidFill>
                <a:latin typeface="Afacad Flux"/>
              </a:rPr>
              <a:t> Instantaneous HIGH logic signal on Green LED upon correct card ID match.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897" y="3161994"/>
            <a:ext cx="5068152" cy="627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Afacad Flux"/>
              </a:rPr>
              <a:t>Invalid Entry Test:</a:t>
            </a:r>
            <a:r>
              <a:rPr sz="1650" b="0" i="0" u="none">
                <a:solidFill>
                  <a:srgbClr val="E2E8F0"/>
                </a:solidFill>
                <a:latin typeface="Afacad Flux"/>
              </a:rPr>
              <a:t> Triggers Red LED warning and increments the internal failure register.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897" y="3960814"/>
            <a:ext cx="5068152" cy="627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Afacad Flux"/>
              </a:rPr>
              <a:t>Lockout Enforcement:</a:t>
            </a:r>
            <a:r>
              <a:rPr sz="1650" b="0" i="0" u="none">
                <a:solidFill>
                  <a:srgbClr val="E2E8F0"/>
                </a:solidFill>
                <a:latin typeface="Afacad Flux"/>
              </a:rPr>
              <a:t> Successfully locks entry after 3 consecutive failures for a preset duration.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897" y="4759634"/>
            <a:ext cx="5068152" cy="627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Afacad Flux"/>
              </a:rPr>
              <a:t>Propagation Timing:</a:t>
            </a:r>
            <a:r>
              <a:rPr sz="1650" b="0" i="0" u="none">
                <a:solidFill>
                  <a:srgbClr val="E2E8F0"/>
                </a:solidFill>
                <a:latin typeface="Afacad Flux"/>
              </a:rPr>
              <a:t> Total gate propagation delay measured well below safe threshold limits.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460" y="2172980"/>
            <a:ext cx="5373014" cy="357567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97" y="2396451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97" y="3195271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97" y="3994091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97" y="4792910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4997" y="387231"/>
            <a:ext cx="11707002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5100" b="1" i="0" u="none" dirty="0">
                <a:solidFill>
                  <a:srgbClr val="38BDF8"/>
                </a:solidFill>
                <a:latin typeface="Gabriola" panose="04040605051002020D02" pitchFamily="82" charset="0"/>
              </a:rPr>
              <a:t>Simulation and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997" y="1243064"/>
            <a:ext cx="11202495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01" y="2485358"/>
            <a:ext cx="3443208" cy="272557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588" y="2485358"/>
            <a:ext cx="3443208" cy="27255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974" y="2485358"/>
            <a:ext cx="3443208" cy="27255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6857" y="3427761"/>
            <a:ext cx="2994491" cy="267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8FAFC"/>
                </a:solidFill>
                <a:latin typeface="Comfortaa"/>
              </a:rPr>
              <a:t>Hardware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6857" y="3806571"/>
            <a:ext cx="2851896" cy="1108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Afacad Flux"/>
              </a:rPr>
              <a:t>Proved that secure access control systems can be built efficiently using pure digital hardware logic without microcontroller reliance.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7244" y="3427761"/>
            <a:ext cx="2994491" cy="267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8FAFC"/>
                </a:solidFill>
                <a:latin typeface="Comfortaa"/>
              </a:rPr>
              <a:t>Robust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7244" y="3806571"/>
            <a:ext cx="2851896" cy="1108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Afacad Flux"/>
              </a:rPr>
              <a:t>Logisim served as a powerful educational platform for validating complex gate-level connections and state transitions.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7630" y="3427761"/>
            <a:ext cx="2994491" cy="267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8FAFC"/>
                </a:solidFill>
                <a:latin typeface="Comfortaa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7630" y="3806571"/>
            <a:ext cx="2851896" cy="1108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Afacad Flux"/>
              </a:rPr>
              <a:t>Readily scalable to FPGA hardware boards using VHDL/Verilog for real-world deployment and biometric integration.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57" y="2864167"/>
            <a:ext cx="304895" cy="35109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244" y="2864167"/>
            <a:ext cx="443483" cy="35109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7630" y="2864167"/>
            <a:ext cx="351091" cy="3510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1201" y="378809"/>
            <a:ext cx="11428028" cy="81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5100" b="1" i="0" u="none" dirty="0">
                <a:solidFill>
                  <a:srgbClr val="38BDF8"/>
                </a:solidFill>
                <a:latin typeface="Gill Sans Ultra Bold Condensed" panose="020B0A06020104020203" pitchFamily="34" charset="0"/>
              </a:rPr>
              <a:t>Conclusion and Key Takeaways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201" y="1209484"/>
            <a:ext cx="10883836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" y="0"/>
            <a:ext cx="12191853" cy="68579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1538" y="1599381"/>
            <a:ext cx="5114863" cy="3000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9750" b="0" i="0" u="none" dirty="0">
                <a:solidFill>
                  <a:srgbClr val="38BDF8"/>
                </a:solidFill>
                <a:latin typeface="Stencil" panose="040409050D0802020404" pitchFamily="82" charset="0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1605" y="5485522"/>
            <a:ext cx="9048641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3200" b="0" i="0" u="none" dirty="0">
                <a:solidFill>
                  <a:srgbClr val="FB7185"/>
                </a:solidFill>
                <a:latin typeface="Felix Titling" panose="04060505060202020A04" pitchFamily="82" charset="0"/>
              </a:rPr>
              <a:t>Digital Logic Design &amp; Hardware Simulation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000000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13</TotalTime>
  <Words>487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9" baseType="lpstr">
      <vt:lpstr>FZShuTi</vt:lpstr>
      <vt:lpstr>Afacad Flux</vt:lpstr>
      <vt:lpstr>Afacad Flux SemiBold</vt:lpstr>
      <vt:lpstr>Algerian</vt:lpstr>
      <vt:lpstr>Arial</vt:lpstr>
      <vt:lpstr>Arial Black</vt:lpstr>
      <vt:lpstr>Baskerville Old Face</vt:lpstr>
      <vt:lpstr>Bell MT</vt:lpstr>
      <vt:lpstr>Bodoni MT Black</vt:lpstr>
      <vt:lpstr>Castellar</vt:lpstr>
      <vt:lpstr>Comfortaa</vt:lpstr>
      <vt:lpstr>Engravers MT</vt:lpstr>
      <vt:lpstr>Eras Bold ITC</vt:lpstr>
      <vt:lpstr>Felix Titling</vt:lpstr>
      <vt:lpstr>Gabriola</vt:lpstr>
      <vt:lpstr>Gill Sans Ultra Bold Condensed</vt:lpstr>
      <vt:lpstr>Goudy Old Style</vt:lpstr>
      <vt:lpstr>Neue Haas Grotesk Text Pro</vt:lpstr>
      <vt:lpstr>Stencil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gaddam jesuuday</cp:lastModifiedBy>
  <cp:revision>4</cp:revision>
  <dcterms:created xsi:type="dcterms:W3CDTF">2013-01-27T09:14:16Z</dcterms:created>
  <dcterms:modified xsi:type="dcterms:W3CDTF">2026-09-13T12:49:22Z</dcterms:modified>
  <cp:category/>
</cp:coreProperties>
</file>