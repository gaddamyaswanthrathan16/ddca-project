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JetBrains Mono"/>
      <ns0:regular ns1:id="rIdFont12"/>
    </ns0:embeddedFont>
    <ns0:embeddedFont>
      <ns0:font typeface="Space Grotesk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49e53274-9746-4dcb-92a4-62284adfc64c.fntdata" /><ns0:Relationship Id="rIdFont13" Type="http://schemas.openxmlformats.org/officeDocument/2006/relationships/font" Target="fonts/47cabcac-4278-4c0f-a5d9-f92a6170947d.fntdata" /><ns0:Relationship Id="rIdFont14" Type="http://schemas.openxmlformats.org/officeDocument/2006/relationships/font" Target="fonts/565b34f6-0b54-47a5-b463-283f1224544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34805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94619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EMBEDDED SYSTEMS &amp; SECURITY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18469"/>
            <a:ext cx="8601075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Space Grotesk"/>
              </a:rPr>
              <a:t>Design &amp; Simulation of a Digital Access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91855"/>
            <a:ext cx="5810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Space Grotesk"/>
              </a:rPr>
              <a:t>Microcontroller-based RFID authentication system architecture and simulation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3725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33725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33725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33725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3400425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3400425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012" y="3400425"/>
            <a:ext cx="3048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837" y="3400425"/>
            <a:ext cx="3048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System Architecture &amp;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Space Grotesk"/>
              </a:rPr>
              <a:t>Four-stage modular signal pipeline for contactless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336" y="380047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1. Input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309" y="4095750"/>
            <a:ext cx="26789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Space Grotesk"/>
              </a:rPr>
              <a:t>MIFARE 13.56MHz tag scanned via RC522 reader module.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4161" y="380047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2. Processing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1134" y="4095750"/>
            <a:ext cx="26789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Space Grotesk"/>
              </a:rPr>
              <a:t>Arduino Uno parses SPI data and verifies card UID matches.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4986" y="380047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3. Feedback 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1959" y="4095750"/>
            <a:ext cx="26789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Space Grotesk"/>
              </a:rPr>
              <a:t>16x2 LCD status prompt, dual LEDs, and buzzer alert.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5811" y="380047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4. Actuator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784" y="4095750"/>
            <a:ext cx="26789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Space Grotesk"/>
              </a:rPr>
              <a:t>Servo motor or relay-driven solenoid latch opens 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62212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8487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14762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91037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Component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Space Grotesk"/>
              </a:rPr>
              <a:t>Hardware elements required for physical realization and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33662"/>
            <a:ext cx="4381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Arduino Uno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633662"/>
            <a:ext cx="7848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ATmega328P microcontroller core, 16 MHz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09937"/>
            <a:ext cx="4381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MFRC522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309937"/>
            <a:ext cx="7848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13.56 MHz contactless RFID transceiver with SPI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986212"/>
            <a:ext cx="4381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16x2 I2C LCD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986212"/>
            <a:ext cx="7848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Character display module utilizing PCF8574 backpack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662487"/>
            <a:ext cx="4381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SG90 Servo 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662487"/>
            <a:ext cx="7848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PWM-driven miniature actuator simulating physical door 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9412"/>
            <a:ext cx="10972800" cy="1905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Core Firmware &amp; UID Validation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Space Grotesk"/>
              </a:rPr>
              <a:t>Interrupt-driven polling script matching scanned bytes against authorized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86112"/>
            <a:ext cx="104584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JetBrains Mono"/>
              </a:rPr>
              <a:t>// UID Check Loop Routine</a:t>
            </a:r>
            <a:r>
              <a:t>
</a:t>
            </a:r>
            <a:r>
              <a:rPr b="0" sz="1125" i="0" u="none">
                <a:solidFill>
                  <a:srgbClr val="F472B6"/>
                </a:solidFill>
                <a:latin typeface="JetBrains Mono"/>
              </a:rPr>
              <a:t>if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(checkUID(mfrc522.uid.uidByte, authorizedUID)) {</a:t>
            </a:r>
            <a:r>
              <a:t>
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  accessGranted(); </a:t>
            </a:r>
            <a:r>
              <a:rPr b="0" sz="1125" i="0" u="none">
                <a:solidFill>
                  <a:srgbClr val="94A3B8"/>
                </a:solidFill>
                <a:latin typeface="JetBrains Mono"/>
              </a:rPr>
              <a:t>// Green LED, Buzzer pulse, Servo unlock to 90°</a:t>
            </a:r>
            <a:r>
              <a:t>
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} </a:t>
            </a:r>
            <a:r>
              <a:rPr b="0" sz="1125" i="0" u="none">
                <a:solidFill>
                  <a:srgbClr val="F472B6"/>
                </a:solidFill>
                <a:latin typeface="JetBrains Mono"/>
              </a:rPr>
              <a:t>else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{</a:t>
            </a:r>
            <a:r>
              <a:t>
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  accessDenied(); </a:t>
            </a:r>
            <a:r>
              <a:rPr b="0" sz="1125" i="0" u="none">
                <a:solidFill>
                  <a:srgbClr val="94A3B8"/>
                </a:solidFill>
                <a:latin typeface="JetBrains Mono"/>
              </a:rPr>
              <a:t>// Red LED, Double buzzer error alert, Locked</a:t>
            </a:r>
            <a:r>
              <a:t>
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70521" y="2867025"/>
            <a:ext cx="7650956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Space Grotesk"/>
              </a:rPr>
              <a:t>System Ready for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4125" y="3552825"/>
            <a:ext cx="7143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Space Grotesk"/>
              </a:rPr>
              <a:t>Ready to deploy across Proteus ISIS or Tinkercad virtual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